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1396325" cy="30267275"/>
  <p:notesSz cx="30267275" cy="213963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456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1E609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E60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2C5-406D-90F1-084823B6B833}"/>
              </c:ext>
            </c:extLst>
          </c:dPt>
          <c:dPt>
            <c:idx val="1"/>
            <c:invertIfNegative val="0"/>
            <c:bubble3D val="0"/>
            <c:spPr>
              <a:solidFill>
                <a:srgbClr val="E6394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2C5-406D-90F1-084823B6B833}"/>
              </c:ext>
            </c:extLst>
          </c:dPt>
          <c:dPt>
            <c:idx val="2"/>
            <c:invertIfNegative val="0"/>
            <c:bubble3D val="0"/>
            <c:spPr>
              <a:solidFill>
                <a:srgbClr val="1E609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2C5-406D-90F1-084823B6B833}"/>
              </c:ext>
            </c:extLst>
          </c:dPt>
          <c:dPt>
            <c:idx val="3"/>
            <c:invertIfNegative val="0"/>
            <c:bubble3D val="0"/>
            <c:spPr>
              <a:solidFill>
                <a:srgbClr val="2EC4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2C5-406D-90F1-084823B6B83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Before SMOTE
(Negative)</c:v>
                </c:pt>
                <c:pt idx="1">
                  <c:v>Before SMOTE
(Positive)</c:v>
                </c:pt>
                <c:pt idx="2">
                  <c:v>After SMOTE
(Negative)</c:v>
                </c:pt>
                <c:pt idx="3">
                  <c:v>After SMOTE
(Positive)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29922</c:v>
                </c:pt>
                <c:pt idx="1">
                  <c:v>2346</c:v>
                </c:pt>
                <c:pt idx="2">
                  <c:v>29922</c:v>
                </c:pt>
                <c:pt idx="3">
                  <c:v>29922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2C5-406D-90F1-084823B6B83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CV AUC-ROC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DF-436F-A45B-CF23E062E953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DF-436F-A45B-CF23E062E953}"/>
              </c:ext>
            </c:extLst>
          </c:dPt>
          <c:dPt>
            <c:idx val="2"/>
            <c:invertIfNegative val="0"/>
            <c:bubble3D val="0"/>
            <c:spPr>
              <a:solidFill>
                <a:srgbClr val="14BD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DF-436F-A45B-CF23E062E953}"/>
              </c:ext>
            </c:extLst>
          </c:dPt>
          <c:dPt>
            <c:idx val="3"/>
            <c:invertIfNegative val="0"/>
            <c:bubble3D val="0"/>
            <c:spPr>
              <a:solidFill>
                <a:srgbClr val="6930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DF-436F-A45B-CF23E062E953}"/>
              </c:ext>
            </c:extLst>
          </c:dPt>
          <c:dPt>
            <c:idx val="4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DF-436F-A45B-CF23E062E953}"/>
              </c:ext>
            </c:extLst>
          </c:dPt>
          <c:dPt>
            <c:idx val="5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DF-436F-A45B-CF23E062E953}"/>
              </c:ext>
            </c:extLst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DDF-436F-A45B-CF23E062E953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RF</c:v>
                </c:pt>
                <c:pt idx="1">
                  <c:v>GB</c:v>
                </c:pt>
                <c:pt idx="2">
                  <c:v>KNN</c:v>
                </c:pt>
                <c:pt idx="3">
                  <c:v>SVM</c:v>
                </c:pt>
                <c:pt idx="4">
                  <c:v>DT</c:v>
                </c:pt>
                <c:pt idx="5">
                  <c:v>LR</c:v>
                </c:pt>
                <c:pt idx="6">
                  <c:v>NB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0.99319999999999997</c:v>
                </c:pt>
                <c:pt idx="1">
                  <c:v>0.97499999999999998</c:v>
                </c:pt>
                <c:pt idx="2">
                  <c:v>0.9738</c:v>
                </c:pt>
                <c:pt idx="3">
                  <c:v>0.94450000000000001</c:v>
                </c:pt>
                <c:pt idx="4">
                  <c:v>0.87719999999999998</c:v>
                </c:pt>
                <c:pt idx="5">
                  <c:v>0.77710000000000001</c:v>
                </c:pt>
                <c:pt idx="6">
                  <c:v>0.77359999999999995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DDF-436F-A45B-CF23E062E9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7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ar-SA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AUC-ROC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12-45F9-AB00-BC6885AAA5BF}"/>
              </c:ext>
            </c:extLst>
          </c:dPt>
          <c:dPt>
            <c:idx val="1"/>
            <c:invertIfNegative val="0"/>
            <c:bubble3D val="0"/>
            <c:spPr>
              <a:solidFill>
                <a:srgbClr val="0D73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12-45F9-AB00-BC6885AAA5BF}"/>
              </c:ext>
            </c:extLst>
          </c:dPt>
          <c:dPt>
            <c:idx val="2"/>
            <c:invertIfNegative val="0"/>
            <c:bubble3D val="0"/>
            <c:spPr>
              <a:solidFill>
                <a:srgbClr val="6930C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12-45F9-AB00-BC6885AAA5BF}"/>
              </c:ext>
            </c:extLst>
          </c:dPt>
          <c:dPt>
            <c:idx val="3"/>
            <c:invertIfNegative val="0"/>
            <c:bubble3D val="0"/>
            <c:spPr>
              <a:solidFill>
                <a:srgbClr val="6474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12-45F9-AB00-BC6885AAA5BF}"/>
              </c:ext>
            </c:extLst>
          </c:dPt>
          <c:dPt>
            <c:idx val="4"/>
            <c:invertIfNegative val="0"/>
            <c:bubble3D val="0"/>
            <c:spPr>
              <a:solidFill>
                <a:srgbClr val="14BDC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712-45F9-AB00-BC6885AAA5BF}"/>
              </c:ext>
            </c:extLst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712-45F9-AB00-BC6885AAA5BF}"/>
              </c:ext>
            </c:extLst>
          </c:dPt>
          <c:dPt>
            <c:idx val="6"/>
            <c:invertIfNegative val="0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3712-45F9-AB00-BC6885AAA5B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ar-SA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Random
Forest</c:v>
                </c:pt>
                <c:pt idx="1">
                  <c:v>SVM</c:v>
                </c:pt>
                <c:pt idx="2">
                  <c:v>Grad.
Boosting</c:v>
                </c:pt>
                <c:pt idx="3">
                  <c:v>Naive
Bayes</c:v>
                </c:pt>
                <c:pt idx="4">
                  <c:v>KNN</c:v>
                </c:pt>
                <c:pt idx="5">
                  <c:v>Log.
Reg.</c:v>
                </c:pt>
                <c:pt idx="6">
                  <c:v>Dec.
Tree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0.86439999999999995</c:v>
                </c:pt>
                <c:pt idx="1">
                  <c:v>0.83230000000000004</c:v>
                </c:pt>
                <c:pt idx="2">
                  <c:v>0.80740000000000001</c:v>
                </c:pt>
                <c:pt idx="3">
                  <c:v>0.75970000000000004</c:v>
                </c:pt>
                <c:pt idx="4">
                  <c:v>0.75049999999999994</c:v>
                </c:pt>
                <c:pt idx="5">
                  <c:v>0.74909999999999999</c:v>
                </c:pt>
                <c:pt idx="6">
                  <c:v>0.63100000000000001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712-45F9-AB00-BC6885AAA5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40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396960" cy="34747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" name="Shape 1"/>
          <p:cNvSpPr/>
          <p:nvPr/>
        </p:nvSpPr>
        <p:spPr>
          <a:xfrm>
            <a:off x="0" y="3291840"/>
            <a:ext cx="21396960" cy="2286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 · Minority Class Suppression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20482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Sepsis in ICU Patients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048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Under Adversarial Class Imbalance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2048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Yasser Alassad  (S22107723)   ·   Umar Ayyash  (S22107722)   ·   Instructor: Dr. Naila Marir   ·   CS4082 Machine Learning   ·   Effat University · Spring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749040"/>
            <a:ext cx="4096512" cy="14173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0" name="Text 8"/>
          <p:cNvSpPr/>
          <p:nvPr/>
        </p:nvSpPr>
        <p:spPr>
          <a:xfrm>
            <a:off x="457200" y="3886200"/>
            <a:ext cx="409651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40,336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4542739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ICU Patients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5455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cases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9432" y="3749040"/>
            <a:ext cx="4096512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4" name="Text 12"/>
          <p:cNvSpPr/>
          <p:nvPr/>
        </p:nvSpPr>
        <p:spPr>
          <a:xfrm>
            <a:off x="4599432" y="3886200"/>
            <a:ext cx="409651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7.27%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4599432" y="4542739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Rate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9432" y="485455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741664" y="3749040"/>
            <a:ext cx="4096512" cy="14173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18" name="Text 16"/>
          <p:cNvSpPr/>
          <p:nvPr/>
        </p:nvSpPr>
        <p:spPr>
          <a:xfrm>
            <a:off x="8741664" y="3886200"/>
            <a:ext cx="409651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741664" y="4542739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41664" y="485455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engineering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883896" y="3749040"/>
            <a:ext cx="4096512" cy="1417320"/>
          </a:xfrm>
          <a:prstGeom prst="rect">
            <a:avLst/>
          </a:prstGeom>
          <a:solidFill>
            <a:srgbClr val="6930C3"/>
          </a:solidFill>
          <a:ln w="12700">
            <a:solidFill>
              <a:srgbClr val="6930C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2" name="Text 20"/>
          <p:cNvSpPr/>
          <p:nvPr/>
        </p:nvSpPr>
        <p:spPr>
          <a:xfrm>
            <a:off x="12883896" y="3886200"/>
            <a:ext cx="409651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12883896" y="4542739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83896" y="485455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026128" y="3749040"/>
            <a:ext cx="4096512" cy="14173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26" name="Text 24"/>
          <p:cNvSpPr/>
          <p:nvPr/>
        </p:nvSpPr>
        <p:spPr>
          <a:xfrm>
            <a:off x="17026128" y="3886200"/>
            <a:ext cx="4096512" cy="737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0.864</a:t>
            </a:r>
            <a:endParaRPr lang="en-US" sz="4400" dirty="0"/>
          </a:p>
        </p:txBody>
      </p:sp>
      <p:sp>
        <p:nvSpPr>
          <p:cNvPr id="27" name="Text 25"/>
          <p:cNvSpPr/>
          <p:nvPr/>
        </p:nvSpPr>
        <p:spPr>
          <a:xfrm>
            <a:off x="17026128" y="4542739"/>
            <a:ext cx="4096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7026128" y="4854550"/>
            <a:ext cx="4096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5394960"/>
            <a:ext cx="6583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0" name="Shape 28"/>
          <p:cNvSpPr/>
          <p:nvPr/>
        </p:nvSpPr>
        <p:spPr>
          <a:xfrm>
            <a:off x="457200" y="5394960"/>
            <a:ext cx="658368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1" name="Text 29"/>
          <p:cNvSpPr/>
          <p:nvPr/>
        </p:nvSpPr>
        <p:spPr>
          <a:xfrm>
            <a:off x="621792" y="5504688"/>
            <a:ext cx="6254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21792" y="5989320"/>
            <a:ext cx="62544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3" name="Text 31"/>
          <p:cNvSpPr/>
          <p:nvPr/>
        </p:nvSpPr>
        <p:spPr>
          <a:xfrm>
            <a:off x="621792" y="6080760"/>
            <a:ext cx="6254496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Sepsis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~11 million people annually and affects 49M+ ICU patients worldwide. Early detection dramatically improves survival, yet its symptoms overlap with many other conditions.
</a:t>
            </a: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7.27% of patients develop sepsis — a classic </a:t>
            </a:r>
            <a:r>
              <a:rPr lang="en-US" sz="13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suppression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problem. A model that always predicts 'no sepsis' gets 92.7% accuracy but saves zero lives.
</a:t>
            </a:r>
            <a:r>
              <a:rPr lang="en-US" sz="13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work aligns with Saudi Vision 2030's digital health transformation goals, developing AI-driven early-warning systems for ICU triage.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7132320" y="5394960"/>
            <a:ext cx="65836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35" name="Shape 33"/>
          <p:cNvSpPr/>
          <p:nvPr/>
        </p:nvSpPr>
        <p:spPr>
          <a:xfrm>
            <a:off x="7132320" y="5394960"/>
            <a:ext cx="658368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6" name="Text 34"/>
          <p:cNvSpPr/>
          <p:nvPr/>
        </p:nvSpPr>
        <p:spPr>
          <a:xfrm>
            <a:off x="7296912" y="5504688"/>
            <a:ext cx="6254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Challenge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7296912" y="5989320"/>
            <a:ext cx="62544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38" name="Text 36"/>
          <p:cNvSpPr/>
          <p:nvPr/>
        </p:nvSpPr>
        <p:spPr>
          <a:xfrm>
            <a:off x="7260336" y="5958840"/>
            <a:ext cx="6254496" cy="6400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Suppression
</a:t>
            </a: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mitigation:
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92.7% of patients: No Sepsis
• 7.3% of patients: Sepsis
• Naive model accuracy: 92.7% (useless)
</a:t>
            </a:r>
            <a:r>
              <a:rPr lang="en-US" sz="13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
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SMOTE oversampling — generates synthetic sepsis-positive samples by interpolating between minority instances (k=5 neighbours)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class_weight='balanced' — penalises minority-class errors more heavily during training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Recall-optimised evaluation — AUC-ROC and F1 (sepsis) over raw accuracy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13807440" y="5394960"/>
            <a:ext cx="7132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0" name="Shape 38"/>
          <p:cNvSpPr/>
          <p:nvPr/>
        </p:nvSpPr>
        <p:spPr>
          <a:xfrm>
            <a:off x="13807440" y="5394960"/>
            <a:ext cx="713232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1" name="Text 39"/>
          <p:cNvSpPr/>
          <p:nvPr/>
        </p:nvSpPr>
        <p:spPr>
          <a:xfrm>
            <a:off x="13972032" y="5504688"/>
            <a:ext cx="68031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13972032" y="5989320"/>
            <a:ext cx="68031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3" name="Text 41"/>
          <p:cNvSpPr/>
          <p:nvPr/>
        </p:nvSpPr>
        <p:spPr>
          <a:xfrm>
            <a:off x="13972032" y="6080759"/>
            <a:ext cx="6803136" cy="48646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Data Loading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1.55M rows · 40,336 patients · 15 features
</a:t>
            </a: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Feature Engineering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Aggregate time-series → patient level
   (mean, std, min, max per vital)
</a:t>
            </a: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Preprocessing
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Median imputation · StandardScaler
   Stratified 80/20 split
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57200" y="9326880"/>
            <a:ext cx="77724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5" name="Shape 43"/>
          <p:cNvSpPr/>
          <p:nvPr/>
        </p:nvSpPr>
        <p:spPr>
          <a:xfrm>
            <a:off x="457200" y="9326880"/>
            <a:ext cx="77724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6" name="Text 44"/>
          <p:cNvSpPr/>
          <p:nvPr/>
        </p:nvSpPr>
        <p:spPr>
          <a:xfrm>
            <a:off x="621792" y="9436608"/>
            <a:ext cx="7443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1700" dirty="0"/>
          </a:p>
        </p:txBody>
      </p:sp>
      <p:sp>
        <p:nvSpPr>
          <p:cNvPr id="47" name="Shape 45"/>
          <p:cNvSpPr/>
          <p:nvPr/>
        </p:nvSpPr>
        <p:spPr>
          <a:xfrm>
            <a:off x="621792" y="9921240"/>
            <a:ext cx="74432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48" name="Shape 46"/>
          <p:cNvSpPr/>
          <p:nvPr/>
        </p:nvSpPr>
        <p:spPr>
          <a:xfrm>
            <a:off x="640080" y="10040112"/>
            <a:ext cx="740664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49" name="Text 47"/>
          <p:cNvSpPr/>
          <p:nvPr/>
        </p:nvSpPr>
        <p:spPr>
          <a:xfrm>
            <a:off x="822960" y="10076688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Vital Signs (×4 stats each)
</a:t>
            </a:r>
            <a:r>
              <a:rPr lang="en-US" sz="1200" dirty="0">
                <a:solidFill>
                  <a:srgbClr val="D1FAF9"/>
                </a:solidFill>
              </a:rPr>
              <a:t>HR · O2Sat · Temp · SBP · MAP · DBP · Resp → 28 features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40080" y="11045952"/>
            <a:ext cx="7406640" cy="822960"/>
          </a:xfrm>
          <a:prstGeom prst="rect">
            <a:avLst/>
          </a:prstGeom>
          <a:solidFill>
            <a:srgbClr val="6930C3"/>
          </a:solidFill>
          <a:ln w="12700">
            <a:solidFill>
              <a:srgbClr val="6930C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1" name="Text 49"/>
          <p:cNvSpPr/>
          <p:nvPr/>
        </p:nvSpPr>
        <p:spPr>
          <a:xfrm>
            <a:off x="822960" y="11082528"/>
            <a:ext cx="7040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Demographics (last value)
</a:t>
            </a:r>
            <a:r>
              <a:rPr lang="en-US" sz="1200" dirty="0">
                <a:solidFill>
                  <a:srgbClr val="D1FAF9"/>
                </a:solidFill>
              </a:rPr>
              <a:t>Age · Gender · Unit1 · Unit2 · HospAdmTime · ICULOS → 6 features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12024360"/>
            <a:ext cx="740664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3" name="Text 51"/>
          <p:cNvSpPr/>
          <p:nvPr/>
        </p:nvSpPr>
        <p:spPr>
          <a:xfrm>
            <a:off x="777240" y="12051792"/>
            <a:ext cx="7132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Missingness: Median imputation (fit on train only) · No features exceeded 60% threshold · Prevents data leakage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321040" y="9326880"/>
            <a:ext cx="12618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55" name="Shape 53"/>
          <p:cNvSpPr/>
          <p:nvPr/>
        </p:nvSpPr>
        <p:spPr>
          <a:xfrm>
            <a:off x="8321040" y="9326880"/>
            <a:ext cx="1261872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56" name="Text 54"/>
          <p:cNvSpPr/>
          <p:nvPr/>
        </p:nvSpPr>
        <p:spPr>
          <a:xfrm>
            <a:off x="8485632" y="9436608"/>
            <a:ext cx="12289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Rebalancing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8485632" y="9921240"/>
            <a:ext cx="122895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graphicFrame>
        <p:nvGraphicFramePr>
          <p:cNvPr id="58" name="Chart 0"/>
          <p:cNvGraphicFramePr/>
          <p:nvPr/>
        </p:nvGraphicFramePr>
        <p:xfrm>
          <a:off x="8394192" y="10012680"/>
          <a:ext cx="12289536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9" name="Shape 56"/>
          <p:cNvSpPr/>
          <p:nvPr/>
        </p:nvSpPr>
        <p:spPr>
          <a:xfrm>
            <a:off x="457200" y="12984480"/>
            <a:ext cx="82296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0" name="Shape 57"/>
          <p:cNvSpPr/>
          <p:nvPr/>
        </p:nvSpPr>
        <p:spPr>
          <a:xfrm>
            <a:off x="457200" y="12984480"/>
            <a:ext cx="82296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1" name="Text 58"/>
          <p:cNvSpPr/>
          <p:nvPr/>
        </p:nvSpPr>
        <p:spPr>
          <a:xfrm>
            <a:off x="621792" y="13094208"/>
            <a:ext cx="79004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Classification Models</a:t>
            </a:r>
            <a:endParaRPr lang="en-US" sz="1700" dirty="0"/>
          </a:p>
        </p:txBody>
      </p:sp>
      <p:sp>
        <p:nvSpPr>
          <p:cNvPr id="62" name="Shape 59"/>
          <p:cNvSpPr/>
          <p:nvPr/>
        </p:nvSpPr>
        <p:spPr>
          <a:xfrm>
            <a:off x="621792" y="13578840"/>
            <a:ext cx="79004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670280"/>
          <a:ext cx="10058400" cy="324612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Config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class_weight='balanced'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class_weight='balanced'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Bagging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trees · class_weight='balanced'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class_weight='balanced' · RBF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Instance-Based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k=7 neighbours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GaussianNB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57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Ensemble Boosting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estimators · lr=0.1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Shape 60"/>
          <p:cNvSpPr/>
          <p:nvPr/>
        </p:nvSpPr>
        <p:spPr>
          <a:xfrm>
            <a:off x="8778240" y="12984480"/>
            <a:ext cx="12161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65" name="Shape 61"/>
          <p:cNvSpPr/>
          <p:nvPr/>
        </p:nvSpPr>
        <p:spPr>
          <a:xfrm>
            <a:off x="8778240" y="12984480"/>
            <a:ext cx="12161520" cy="73152"/>
          </a:xfrm>
          <a:prstGeom prst="rect">
            <a:avLst/>
          </a:prstGeom>
          <a:solidFill>
            <a:srgbClr val="6930C3"/>
          </a:solidFill>
          <a:ln w="12700">
            <a:solidFill>
              <a:srgbClr val="6930C3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66" name="Text 62"/>
          <p:cNvSpPr/>
          <p:nvPr/>
        </p:nvSpPr>
        <p:spPr>
          <a:xfrm>
            <a:off x="8942832" y="13094208"/>
            <a:ext cx="118323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AUC-ROC</a:t>
            </a:r>
            <a:endParaRPr lang="en-US" sz="1700" dirty="0"/>
          </a:p>
        </p:txBody>
      </p:sp>
      <p:sp>
        <p:nvSpPr>
          <p:cNvPr id="67" name="Shape 63"/>
          <p:cNvSpPr/>
          <p:nvPr/>
        </p:nvSpPr>
        <p:spPr>
          <a:xfrm>
            <a:off x="8942832" y="13578840"/>
            <a:ext cx="118323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graphicFrame>
        <p:nvGraphicFramePr>
          <p:cNvPr id="68" name="Chart 1"/>
          <p:cNvGraphicFramePr/>
          <p:nvPr/>
        </p:nvGraphicFramePr>
        <p:xfrm>
          <a:off x="8851392" y="13670280"/>
          <a:ext cx="11832336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Shape 64"/>
          <p:cNvSpPr/>
          <p:nvPr/>
        </p:nvSpPr>
        <p:spPr>
          <a:xfrm>
            <a:off x="457200" y="17282160"/>
            <a:ext cx="100584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0" name="Shape 65"/>
          <p:cNvSpPr/>
          <p:nvPr/>
        </p:nvSpPr>
        <p:spPr>
          <a:xfrm>
            <a:off x="457200" y="17282160"/>
            <a:ext cx="1005840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1" name="Text 66"/>
          <p:cNvSpPr/>
          <p:nvPr/>
        </p:nvSpPr>
        <p:spPr>
          <a:xfrm>
            <a:off x="621792" y="17391888"/>
            <a:ext cx="97292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Results (8,068 Real Patients — Imbalanced)</a:t>
            </a:r>
            <a:endParaRPr lang="en-US" sz="1700" dirty="0"/>
          </a:p>
        </p:txBody>
      </p:sp>
      <p:sp>
        <p:nvSpPr>
          <p:cNvPr id="72" name="Shape 67"/>
          <p:cNvSpPr/>
          <p:nvPr/>
        </p:nvSpPr>
        <p:spPr>
          <a:xfrm>
            <a:off x="621792" y="17876520"/>
            <a:ext cx="972921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967960"/>
          <a:ext cx="10515600" cy="3438144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Sepsis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4" name="Shape 68"/>
          <p:cNvSpPr/>
          <p:nvPr/>
        </p:nvSpPr>
        <p:spPr>
          <a:xfrm>
            <a:off x="10607040" y="17282160"/>
            <a:ext cx="1033272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75" name="Shape 69"/>
          <p:cNvSpPr/>
          <p:nvPr/>
        </p:nvSpPr>
        <p:spPr>
          <a:xfrm>
            <a:off x="10607040" y="17282160"/>
            <a:ext cx="1033272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76" name="Text 70"/>
          <p:cNvSpPr/>
          <p:nvPr/>
        </p:nvSpPr>
        <p:spPr>
          <a:xfrm>
            <a:off x="10771632" y="17391888"/>
            <a:ext cx="100035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AUC-ROC Comparison</a:t>
            </a:r>
            <a:endParaRPr lang="en-US" sz="1700" dirty="0"/>
          </a:p>
        </p:txBody>
      </p:sp>
      <p:sp>
        <p:nvSpPr>
          <p:cNvPr id="77" name="Shape 71"/>
          <p:cNvSpPr/>
          <p:nvPr/>
        </p:nvSpPr>
        <p:spPr>
          <a:xfrm>
            <a:off x="10771632" y="17876520"/>
            <a:ext cx="1000353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graphicFrame>
        <p:nvGraphicFramePr>
          <p:cNvPr id="78" name="Chart 2"/>
          <p:cNvGraphicFramePr/>
          <p:nvPr/>
        </p:nvGraphicFramePr>
        <p:xfrm>
          <a:off x="10680192" y="17967960"/>
          <a:ext cx="10003536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9" name="Shape 72"/>
          <p:cNvSpPr/>
          <p:nvPr/>
        </p:nvSpPr>
        <p:spPr>
          <a:xfrm>
            <a:off x="457200" y="21854160"/>
            <a:ext cx="204825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0" name="Shape 73"/>
          <p:cNvSpPr/>
          <p:nvPr/>
        </p:nvSpPr>
        <p:spPr>
          <a:xfrm>
            <a:off x="457200" y="21854160"/>
            <a:ext cx="2048256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1" name="Text 74"/>
          <p:cNvSpPr/>
          <p:nvPr/>
        </p:nvSpPr>
        <p:spPr>
          <a:xfrm>
            <a:off x="621792" y="21963888"/>
            <a:ext cx="2015337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Random Forest — Detailed Results</a:t>
            </a:r>
            <a:endParaRPr lang="en-US" sz="1700" dirty="0"/>
          </a:p>
        </p:txBody>
      </p:sp>
      <p:sp>
        <p:nvSpPr>
          <p:cNvPr id="82" name="Shape 75"/>
          <p:cNvSpPr/>
          <p:nvPr/>
        </p:nvSpPr>
        <p:spPr>
          <a:xfrm>
            <a:off x="621792" y="22448520"/>
            <a:ext cx="2015337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83" name="Shape 76"/>
          <p:cNvSpPr/>
          <p:nvPr/>
        </p:nvSpPr>
        <p:spPr>
          <a:xfrm>
            <a:off x="640080" y="22567392"/>
            <a:ext cx="6644640" cy="2377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4" name="Text 77"/>
          <p:cNvSpPr/>
          <p:nvPr/>
        </p:nvSpPr>
        <p:spPr>
          <a:xfrm>
            <a:off x="749808" y="22677120"/>
            <a:ext cx="6425184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No Sepsis Class
</a:t>
            </a:r>
            <a:r>
              <a:rPr lang="en-US" sz="1400" dirty="0">
                <a:solidFill>
                  <a:srgbClr val="D1FAF9"/>
                </a:solidFill>
              </a:rPr>
              <a:t>Precision: 0.97   Recall: 0.93
</a:t>
            </a:r>
            <a:r>
              <a:rPr lang="en-US" sz="2200" b="1" dirty="0">
                <a:solidFill>
                  <a:srgbClr val="FFFFFF"/>
                </a:solidFill>
              </a:rPr>
              <a:t>F1: 0.95
</a:t>
            </a:r>
            <a:r>
              <a:rPr lang="en-US" sz="1200" i="1" dirty="0">
                <a:solidFill>
                  <a:srgbClr val="D1FAF9"/>
                </a:solidFill>
              </a:rPr>
              <a:t>7,482 patients</a:t>
            </a:r>
            <a:endParaRPr lang="en-US" sz="1600" dirty="0"/>
          </a:p>
        </p:txBody>
      </p:sp>
      <p:sp>
        <p:nvSpPr>
          <p:cNvPr id="85" name="Shape 78"/>
          <p:cNvSpPr/>
          <p:nvPr/>
        </p:nvSpPr>
        <p:spPr>
          <a:xfrm>
            <a:off x="7376160" y="22567392"/>
            <a:ext cx="6644640" cy="23774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6" name="Text 79"/>
          <p:cNvSpPr/>
          <p:nvPr/>
        </p:nvSpPr>
        <p:spPr>
          <a:xfrm>
            <a:off x="7485888" y="22677120"/>
            <a:ext cx="6425184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Sepsis Class
</a:t>
            </a:r>
            <a:r>
              <a:rPr lang="en-US" sz="1400" dirty="0">
                <a:solidFill>
                  <a:srgbClr val="D1FAF9"/>
                </a:solidFill>
              </a:rPr>
              <a:t>Precision: 0.42   Recall: 0.64
</a:t>
            </a:r>
            <a:r>
              <a:rPr lang="en-US" sz="2200" b="1" dirty="0">
                <a:solidFill>
                  <a:srgbClr val="FFFFFF"/>
                </a:solidFill>
              </a:rPr>
              <a:t>F1: 0.51
</a:t>
            </a:r>
            <a:r>
              <a:rPr lang="en-US" sz="1200" i="1" dirty="0">
                <a:solidFill>
                  <a:srgbClr val="D1FAF9"/>
                </a:solidFill>
              </a:rPr>
              <a:t>586 patients</a:t>
            </a:r>
            <a:endParaRPr lang="en-US" sz="1600" dirty="0"/>
          </a:p>
        </p:txBody>
      </p:sp>
      <p:sp>
        <p:nvSpPr>
          <p:cNvPr id="87" name="Shape 80"/>
          <p:cNvSpPr/>
          <p:nvPr/>
        </p:nvSpPr>
        <p:spPr>
          <a:xfrm>
            <a:off x="14112240" y="22567392"/>
            <a:ext cx="6644640" cy="2377440"/>
          </a:xfrm>
          <a:prstGeom prst="rect">
            <a:avLst/>
          </a:prstGeom>
          <a:solidFill>
            <a:srgbClr val="6930C3"/>
          </a:solidFill>
          <a:ln w="12700">
            <a:solidFill>
              <a:srgbClr val="6930C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88" name="Text 81"/>
          <p:cNvSpPr/>
          <p:nvPr/>
        </p:nvSpPr>
        <p:spPr>
          <a:xfrm>
            <a:off x="14221968" y="22677120"/>
            <a:ext cx="6425184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Overall
</a:t>
            </a:r>
            <a:r>
              <a:rPr lang="en-US" sz="1400" dirty="0">
                <a:solidFill>
                  <a:srgbClr val="D1FAF9"/>
                </a:solidFill>
              </a:rPr>
              <a:t>Precision: —   Recall: —
</a:t>
            </a:r>
            <a:r>
              <a:rPr lang="en-US" sz="2200" b="1" dirty="0">
                <a:solidFill>
                  <a:srgbClr val="FFFFFF"/>
                </a:solidFill>
              </a:rPr>
              <a:t>F1: 0.91 accuracy
</a:t>
            </a:r>
            <a:r>
              <a:rPr lang="en-US" sz="1200" i="1" dirty="0">
                <a:solidFill>
                  <a:srgbClr val="D1FAF9"/>
                </a:solidFill>
              </a:rPr>
              <a:t>8,068 total patients</a:t>
            </a:r>
            <a:endParaRPr lang="en-US" sz="1600" dirty="0"/>
          </a:p>
        </p:txBody>
      </p:sp>
      <p:sp>
        <p:nvSpPr>
          <p:cNvPr id="89" name="Shape 82"/>
          <p:cNvSpPr/>
          <p:nvPr/>
        </p:nvSpPr>
        <p:spPr>
          <a:xfrm>
            <a:off x="457200" y="25328880"/>
            <a:ext cx="10149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0" name="Shape 83"/>
          <p:cNvSpPr/>
          <p:nvPr/>
        </p:nvSpPr>
        <p:spPr>
          <a:xfrm>
            <a:off x="457200" y="25328880"/>
            <a:ext cx="10149840" cy="73152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1" name="Text 84"/>
          <p:cNvSpPr/>
          <p:nvPr/>
        </p:nvSpPr>
        <p:spPr>
          <a:xfrm>
            <a:off x="621792" y="25438608"/>
            <a:ext cx="9820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700" dirty="0"/>
          </a:p>
        </p:txBody>
      </p:sp>
      <p:sp>
        <p:nvSpPr>
          <p:cNvPr id="92" name="Shape 85"/>
          <p:cNvSpPr/>
          <p:nvPr/>
        </p:nvSpPr>
        <p:spPr>
          <a:xfrm>
            <a:off x="621792" y="25923240"/>
            <a:ext cx="98206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3" name="Text 86"/>
          <p:cNvSpPr/>
          <p:nvPr/>
        </p:nvSpPr>
        <p:spPr>
          <a:xfrm>
            <a:off x="621792" y="26014680"/>
            <a:ext cx="98206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Imbalance mitigation is essential: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class weighting transformed useless models (92% accuracy, 0% sepsis recall) into clinically meaningful classifiers.
</a:t>
            </a: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Ensemble methods dominate: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(AUC 0.864) and SVM (0.832) far outperform linear or probabilistic baselines.
</a:t>
            </a: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CV ≠ test performance: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RF's CV AUC of 0.993 drops to 0.864 on real imbalanced data — SMOTE inflates cross-validation scores.
</a:t>
            </a: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Feature engineering matters: 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 deviation of HR and MAP are top predictors, capturing physiological instability.</a:t>
            </a:r>
            <a:endParaRPr lang="en-US" sz="1350" dirty="0"/>
          </a:p>
        </p:txBody>
      </p:sp>
      <p:sp>
        <p:nvSpPr>
          <p:cNvPr id="94" name="Shape 87"/>
          <p:cNvSpPr/>
          <p:nvPr/>
        </p:nvSpPr>
        <p:spPr>
          <a:xfrm>
            <a:off x="10789920" y="25328880"/>
            <a:ext cx="10149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ar-SA"/>
          </a:p>
        </p:txBody>
      </p:sp>
      <p:sp>
        <p:nvSpPr>
          <p:cNvPr id="95" name="Shape 88"/>
          <p:cNvSpPr/>
          <p:nvPr/>
        </p:nvSpPr>
        <p:spPr>
          <a:xfrm>
            <a:off x="10789920" y="25328880"/>
            <a:ext cx="1014984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6" name="Text 89"/>
          <p:cNvSpPr/>
          <p:nvPr/>
        </p:nvSpPr>
        <p:spPr>
          <a:xfrm>
            <a:off x="10954512" y="25438608"/>
            <a:ext cx="98206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700" dirty="0"/>
          </a:p>
        </p:txBody>
      </p:sp>
      <p:sp>
        <p:nvSpPr>
          <p:cNvPr id="97" name="Shape 90"/>
          <p:cNvSpPr/>
          <p:nvPr/>
        </p:nvSpPr>
        <p:spPr>
          <a:xfrm>
            <a:off x="10954512" y="25923240"/>
            <a:ext cx="982065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98" name="Text 91"/>
          <p:cNvSpPr/>
          <p:nvPr/>
        </p:nvSpPr>
        <p:spPr>
          <a:xfrm>
            <a:off x="10954512" y="26014680"/>
            <a:ext cx="9820656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limitations:
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Patient-level aggregation discards temporal trends
• Single ICU setting limits generalisability
• Binary output — no calibrated risk score
</a:t>
            </a:r>
            <a:r>
              <a:rPr lang="en-US" sz="13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
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LSTM / TCN for direct time-series modelling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tuning for ≥0.85 recall target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 explainability for clinical trust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MIMIC-IV external validation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streaming hourly risk scores</a:t>
            </a:r>
            <a:endParaRPr lang="en-US" sz="1350" dirty="0"/>
          </a:p>
        </p:txBody>
      </p:sp>
      <p:sp>
        <p:nvSpPr>
          <p:cNvPr id="99" name="Shape 92"/>
          <p:cNvSpPr/>
          <p:nvPr/>
        </p:nvSpPr>
        <p:spPr>
          <a:xfrm>
            <a:off x="0" y="28620720"/>
            <a:ext cx="2139696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0" name="Shape 93"/>
          <p:cNvSpPr/>
          <p:nvPr/>
        </p:nvSpPr>
        <p:spPr>
          <a:xfrm>
            <a:off x="0" y="28693872"/>
            <a:ext cx="21396960" cy="15727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1" name="Text 94"/>
          <p:cNvSpPr/>
          <p:nvPr/>
        </p:nvSpPr>
        <p:spPr>
          <a:xfrm>
            <a:off x="457200" y="28730448"/>
            <a:ext cx="15405811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</a:t>
            </a: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Chawla et al. (2002) SMOTE, JAIR · Breiman (2001) Random Forests, ML · Reyna et al. (2019) PhysioNet Sepsis Challenge, CCM · Moor et al. (2021) Deep Learning ICU, Frontiers in Medicine · Singer et al. (2016) Sepsis-3, JAMA</a:t>
            </a:r>
            <a:endParaRPr lang="en-US" sz="1100" dirty="0"/>
          </a:p>
        </p:txBody>
      </p:sp>
      <p:sp>
        <p:nvSpPr>
          <p:cNvPr id="102" name="Shape 95"/>
          <p:cNvSpPr/>
          <p:nvPr/>
        </p:nvSpPr>
        <p:spPr>
          <a:xfrm>
            <a:off x="18196560" y="28730448"/>
            <a:ext cx="137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ar-SA"/>
          </a:p>
        </p:txBody>
      </p:sp>
      <p:sp>
        <p:nvSpPr>
          <p:cNvPr id="103" name="Text 96"/>
          <p:cNvSpPr/>
          <p:nvPr/>
        </p:nvSpPr>
        <p:spPr>
          <a:xfrm>
            <a:off x="18196560" y="28730448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00" dirty="0"/>
          </a:p>
        </p:txBody>
      </p:sp>
      <p:sp>
        <p:nvSpPr>
          <p:cNvPr id="104" name="Text 97"/>
          <p:cNvSpPr/>
          <p:nvPr/>
        </p:nvSpPr>
        <p:spPr>
          <a:xfrm>
            <a:off x="18196560" y="3010204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code &amp; report</a:t>
            </a:r>
            <a:endParaRPr lang="en-US" sz="1000" dirty="0"/>
          </a:p>
        </p:txBody>
      </p:sp>
      <p:sp>
        <p:nvSpPr>
          <p:cNvPr id="105" name="Text 98"/>
          <p:cNvSpPr/>
          <p:nvPr/>
        </p:nvSpPr>
        <p:spPr>
          <a:xfrm>
            <a:off x="15179040" y="2873044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CS4082 Machine Learning  ·  Effat University  ·  Spring 2026  ·  </a:t>
            </a:r>
            <a:r>
              <a:rPr lang="en-US" sz="1100" b="1" dirty="0">
                <a:solidFill>
                  <a:srgbClr val="14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3: Early Detection of Rare Medical Conditions — Minority Class Suppression</a:t>
            </a:r>
            <a:endParaRPr lang="en-US" sz="1100" dirty="0"/>
          </a:p>
        </p:txBody>
      </p:sp>
      <p:sp>
        <p:nvSpPr>
          <p:cNvPr id="107" name="مربع نص 106">
            <a:extLst>
              <a:ext uri="{FF2B5EF4-FFF2-40B4-BE49-F238E27FC236}">
                <a16:creationId xmlns:a16="http://schemas.microsoft.com/office/drawing/2014/main" id="{B98EE0A7-5FDC-1778-F6A7-096F67EDFE97}"/>
              </a:ext>
            </a:extLst>
          </p:cNvPr>
          <p:cNvSpPr txBox="1"/>
          <p:nvPr/>
        </p:nvSpPr>
        <p:spPr>
          <a:xfrm>
            <a:off x="17301591" y="5971032"/>
            <a:ext cx="39844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SMOTE
</a:t>
            </a: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2,346 → 29,922 positive samples
</a:t>
            </a: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Train 7 Models + </a:t>
            </a:r>
            <a:r>
              <a:rPr lang="en-US" sz="1800" b="1" dirty="0" err="1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</a:t>
            </a: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CV + tuning on SMOTE training set
</a:t>
            </a:r>
            <a:r>
              <a:rPr lang="en-US" sz="1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Evaluate on held-out test set
</a:t>
            </a:r>
            <a:r>
              <a:rPr lang="en-US" sz="1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8,068 real (imbalanced) patients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888</Words>
  <Application>Microsoft Office PowerPoint</Application>
  <PresentationFormat>مخصص</PresentationFormat>
  <Paragraphs>129</Paragraphs>
  <Slides>1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Yasser E. Alassaad</cp:lastModifiedBy>
  <cp:revision>2</cp:revision>
  <dcterms:created xsi:type="dcterms:W3CDTF">2026-04-24T11:33:14Z</dcterms:created>
  <dcterms:modified xsi:type="dcterms:W3CDTF">2026-04-24T11:48:12Z</dcterms:modified>
</cp:coreProperties>
</file>